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iketwandre05/AI-Assisted-RPL-Assessment-Platform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itle Details"/>
          <p:cNvSpPr txBox="1"/>
          <p:nvPr/>
        </p:nvSpPr>
        <p:spPr>
          <a:xfrm>
            <a:off x="411480" y="2240280"/>
            <a:ext cx="557784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800" b="1">
                <a:solidFill>
                  <a:srgbClr val="1F3864"/>
                </a:solidFill>
                <a:latin typeface="Arial"/>
              </a:rPr>
              <a:t>Problem Statement ID – </a:t>
            </a:r>
            <a:r>
              <a:rPr sz="1800" b="0">
                <a:solidFill>
                  <a:srgbClr val="222222"/>
                </a:solidFill>
                <a:latin typeface="Arial"/>
              </a:rPr>
              <a:t>26242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800" b="1">
                <a:solidFill>
                  <a:srgbClr val="1F3864"/>
                </a:solidFill>
                <a:latin typeface="Arial"/>
              </a:rPr>
              <a:t>Problem Statement Title – </a:t>
            </a:r>
            <a:r>
              <a:rPr sz="1800" b="0">
                <a:solidFill>
                  <a:srgbClr val="222222"/>
                </a:solidFill>
                <a:latin typeface="Arial"/>
              </a:rPr>
              <a:t>AI-Assisted Skill Assessment Tool for Recognition of Prior Learning (RPL)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800" b="1">
                <a:solidFill>
                  <a:srgbClr val="1F3864"/>
                </a:solidFill>
                <a:latin typeface="Arial"/>
              </a:rPr>
              <a:t>Theme – </a:t>
            </a:r>
            <a:r>
              <a:rPr sz="1800" b="0">
                <a:solidFill>
                  <a:srgbClr val="222222"/>
                </a:solidFill>
                <a:latin typeface="Arial"/>
              </a:rPr>
              <a:t>Smart Education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800" b="1">
                <a:solidFill>
                  <a:srgbClr val="1F3864"/>
                </a:solidFill>
                <a:latin typeface="Arial"/>
              </a:rPr>
              <a:t>PS Category – </a:t>
            </a:r>
            <a:r>
              <a:rPr sz="1800" b="0">
                <a:solidFill>
                  <a:srgbClr val="222222"/>
                </a:solidFill>
                <a:latin typeface="Arial"/>
              </a:rPr>
              <a:t>Software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800" b="1">
                <a:solidFill>
                  <a:srgbClr val="1F3864"/>
                </a:solidFill>
                <a:latin typeface="Arial"/>
              </a:rPr>
              <a:t>Team ID – </a:t>
            </a:r>
            <a:r>
              <a:rPr sz="1800" b="0">
                <a:solidFill>
                  <a:srgbClr val="C00000"/>
                </a:solidFill>
                <a:latin typeface="Arial"/>
              </a:rPr>
              <a:t>[Add your Team ID]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800" b="1">
                <a:solidFill>
                  <a:srgbClr val="1F3864"/>
                </a:solidFill>
                <a:latin typeface="Arial"/>
              </a:rPr>
              <a:t>Team Name – </a:t>
            </a:r>
            <a:r>
              <a:rPr sz="1800" b="1">
                <a:solidFill>
                  <a:srgbClr val="222222"/>
                </a:solidFill>
                <a:latin typeface="Arial"/>
              </a:rPr>
              <a:t>Transparent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AI-ASSISTED RPL ASSESSMENT TOOL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rIns="18288" rtlCol="0" anchor="ctr"/>
          <a:lstStyle/>
          <a:p>
            <a:pPr algn="ctr"/>
            <a:r>
              <a:rPr lang="en-US" sz="1100" b="1" dirty="0">
                <a:solidFill>
                  <a:srgbClr val="1F3864"/>
                </a:solidFill>
                <a:latin typeface="Arial"/>
              </a:rPr>
              <a:t>Transparent Track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Card 1"/>
          <p:cNvSpPr/>
          <p:nvPr/>
        </p:nvSpPr>
        <p:spPr>
          <a:xfrm>
            <a:off x="457200" y="1371600"/>
            <a:ext cx="3639312" cy="48006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Rounded Rectangle 15362"/>
          <p:cNvSpPr/>
          <p:nvPr/>
        </p:nvSpPr>
        <p:spPr>
          <a:xfrm>
            <a:off x="640080" y="1508760"/>
            <a:ext cx="3273552" cy="36576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Proposed Solution</a:t>
            </a:r>
          </a:p>
        </p:txBody>
      </p:sp>
      <p:sp>
        <p:nvSpPr>
          <p:cNvPr id="15364" name="Card 1 Text"/>
          <p:cNvSpPr txBox="1"/>
          <p:nvPr/>
        </p:nvSpPr>
        <p:spPr>
          <a:xfrm>
            <a:off x="594360" y="2057400"/>
            <a:ext cx="3364992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Worker: </a:t>
            </a:r>
            <a:r>
              <a:rPr sz="1600" b="0">
                <a:solidFill>
                  <a:srgbClr val="222222"/>
                </a:solidFill>
                <a:latin typeface="Arial"/>
              </a:rPr>
              <a:t>guided self-declaration of trade, experience, tools and daily tasks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Matching engine: </a:t>
            </a:r>
            <a:r>
              <a:rPr sz="1600" b="0">
                <a:solidFill>
                  <a:srgbClr val="222222"/>
                </a:solidFill>
                <a:latin typeface="Arial"/>
              </a:rPr>
              <a:t>maps declaration to the closest NSQF qualification (1,912 NQR entries)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Assessor: </a:t>
            </a:r>
            <a:r>
              <a:rPr sz="1600" b="0">
                <a:solidFill>
                  <a:srgbClr val="222222"/>
                </a:solidFill>
                <a:latin typeface="Arial"/>
              </a:rPr>
              <a:t>scores 84 NOS performance criteria on a 4-level rubric with evidence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Output: </a:t>
            </a:r>
            <a:r>
              <a:rPr sz="1600" b="0">
                <a:solidFill>
                  <a:srgbClr val="222222"/>
                </a:solidFill>
                <a:latin typeface="Arial"/>
              </a:rPr>
              <a:t>NSQF competency profile + certification recommendation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Final decision: </a:t>
            </a:r>
            <a:r>
              <a:rPr sz="1600" b="0">
                <a:solidFill>
                  <a:srgbClr val="222222"/>
                </a:solidFill>
                <a:latin typeface="Arial"/>
              </a:rPr>
              <a:t>always signed off by the human assessor</a:t>
            </a:r>
          </a:p>
        </p:txBody>
      </p:sp>
      <p:sp>
        <p:nvSpPr>
          <p:cNvPr id="15365" name="Card 2"/>
          <p:cNvSpPr/>
          <p:nvPr/>
        </p:nvSpPr>
        <p:spPr>
          <a:xfrm>
            <a:off x="4279392" y="1371600"/>
            <a:ext cx="3639312" cy="48006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Rounded Rectangle 15365"/>
          <p:cNvSpPr/>
          <p:nvPr/>
        </p:nvSpPr>
        <p:spPr>
          <a:xfrm>
            <a:off x="4462272" y="1508760"/>
            <a:ext cx="3273552" cy="36576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7" name="Card 2 Text"/>
          <p:cNvSpPr txBox="1"/>
          <p:nvPr/>
        </p:nvSpPr>
        <p:spPr>
          <a:xfrm>
            <a:off x="4416552" y="2057400"/>
            <a:ext cx="3364992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 dirty="0">
                <a:solidFill>
                  <a:srgbClr val="1F3864"/>
                </a:solidFill>
                <a:latin typeface="Arial"/>
              </a:rPr>
              <a:t>Vocabulary gap → </a:t>
            </a:r>
            <a:r>
              <a:rPr sz="1600" b="0" dirty="0">
                <a:solidFill>
                  <a:srgbClr val="222222"/>
                </a:solidFill>
                <a:latin typeface="Arial"/>
              </a:rPr>
              <a:t>plain-language input auto-mapped to NOS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 dirty="0">
                <a:solidFill>
                  <a:srgbClr val="1F3864"/>
                </a:solidFill>
                <a:latin typeface="Arial"/>
              </a:rPr>
              <a:t>Assessor variance → </a:t>
            </a:r>
            <a:r>
              <a:rPr sz="1600" b="0" dirty="0">
                <a:solidFill>
                  <a:srgbClr val="222222"/>
                </a:solidFill>
                <a:latin typeface="Arial"/>
              </a:rPr>
              <a:t>one standard rubric for every assessor and location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 dirty="0">
                <a:solidFill>
                  <a:srgbClr val="1F3864"/>
                </a:solidFill>
                <a:latin typeface="Arial"/>
              </a:rPr>
              <a:t>Low connectivity → </a:t>
            </a:r>
            <a:r>
              <a:rPr sz="1600" b="0" dirty="0">
                <a:solidFill>
                  <a:srgbClr val="222222"/>
                </a:solidFill>
                <a:latin typeface="Arial"/>
              </a:rPr>
              <a:t>offline-first app, auto-sync later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 dirty="0">
                <a:solidFill>
                  <a:srgbClr val="1F3864"/>
                </a:solidFill>
                <a:latin typeface="Arial"/>
              </a:rPr>
              <a:t>Slow manual process → </a:t>
            </a:r>
            <a:r>
              <a:rPr sz="1600" b="0" dirty="0">
                <a:solidFill>
                  <a:srgbClr val="222222"/>
                </a:solidFill>
                <a:latin typeface="Arial"/>
              </a:rPr>
              <a:t>checklists and evidence aids speed up scoring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 dirty="0">
                <a:solidFill>
                  <a:srgbClr val="1F3864"/>
                </a:solidFill>
                <a:latin typeface="Arial"/>
              </a:rPr>
              <a:t>Integrity → </a:t>
            </a:r>
            <a:r>
              <a:rPr sz="1600" b="0" dirty="0">
                <a:solidFill>
                  <a:srgbClr val="222222"/>
                </a:solidFill>
                <a:latin typeface="Arial"/>
              </a:rPr>
              <a:t>AI supports, never replaces, the assessor</a:t>
            </a:r>
          </a:p>
        </p:txBody>
      </p:sp>
      <p:sp>
        <p:nvSpPr>
          <p:cNvPr id="15368" name="Card 3"/>
          <p:cNvSpPr/>
          <p:nvPr/>
        </p:nvSpPr>
        <p:spPr>
          <a:xfrm>
            <a:off x="8101583" y="1371600"/>
            <a:ext cx="3639312" cy="48006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8284463" y="1508760"/>
            <a:ext cx="3273552" cy="36576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70" name="Card 3 Text"/>
          <p:cNvSpPr txBox="1"/>
          <p:nvPr/>
        </p:nvSpPr>
        <p:spPr>
          <a:xfrm>
            <a:off x="8238744" y="2057400"/>
            <a:ext cx="3364992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Traceable matching: </a:t>
            </a:r>
            <a:r>
              <a:rPr sz="1600" b="0">
                <a:solidFill>
                  <a:srgbClr val="222222"/>
                </a:solidFill>
                <a:latin typeface="Arial"/>
              </a:rPr>
              <a:t>confidence tiers, criteria citations, explicit “No Match”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Evidence guard: </a:t>
            </a:r>
            <a:r>
              <a:rPr sz="1600" b="0">
                <a:solidFill>
                  <a:srgbClr val="222222"/>
                </a:solidFill>
                <a:latin typeface="Arial"/>
              </a:rPr>
              <a:t>missing evidence or unscored criteria flagged before sign-off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Measured consistency: </a:t>
            </a:r>
            <a:r>
              <a:rPr sz="1600" b="0">
                <a:solidFill>
                  <a:srgbClr val="222222"/>
                </a:solidFill>
                <a:latin typeface="Arial"/>
              </a:rPr>
              <a:t>ICC 0.534 → 0.947 vs manual scoring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Human-in-the-loop by design: </a:t>
            </a:r>
            <a:r>
              <a:rPr sz="1600" b="0">
                <a:solidFill>
                  <a:srgbClr val="222222"/>
                </a:solidFill>
                <a:latin typeface="Arial"/>
              </a:rPr>
              <a:t>server-side role guard on finalisation</a:t>
            </a:r>
          </a:p>
          <a:p>
            <a:pPr marL="182880" indent="-182880" algn="l">
              <a:spcAft>
                <a:spcPts val="11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Honest data handling: </a:t>
            </a:r>
            <a:r>
              <a:rPr sz="1600" b="0">
                <a:solidFill>
                  <a:srgbClr val="222222"/>
                </a:solidFill>
                <a:latin typeface="Arial"/>
              </a:rPr>
              <a:t>source ambiguities flagged, not guessed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rIns="18288" rtlCol="0" anchor="ctr"/>
          <a:lstStyle/>
          <a:p>
            <a:pPr algn="ctr"/>
            <a:r>
              <a:rPr lang="en-US" sz="1100" b="1" dirty="0">
                <a:solidFill>
                  <a:srgbClr val="1F3864"/>
                </a:solidFill>
                <a:latin typeface="Arial"/>
              </a:rPr>
              <a:t>Transparent Track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Step 1"/>
          <p:cNvSpPr/>
          <p:nvPr/>
        </p:nvSpPr>
        <p:spPr>
          <a:xfrm>
            <a:off x="457200" y="1325880"/>
            <a:ext cx="1700784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1. Worker Self‑Declaration</a:t>
            </a:r>
          </a:p>
        </p:txBody>
      </p:sp>
      <p:sp>
        <p:nvSpPr>
          <p:cNvPr id="17411" name="Arrow 1"/>
          <p:cNvSpPr/>
          <p:nvPr/>
        </p:nvSpPr>
        <p:spPr>
          <a:xfrm>
            <a:off x="2167128" y="1673352"/>
            <a:ext cx="164592" cy="219456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Step 2"/>
          <p:cNvSpPr/>
          <p:nvPr/>
        </p:nvSpPr>
        <p:spPr>
          <a:xfrm>
            <a:off x="2340864" y="1325880"/>
            <a:ext cx="1700784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2. NSQF Qualification Matching</a:t>
            </a:r>
          </a:p>
        </p:txBody>
      </p:sp>
      <p:sp>
        <p:nvSpPr>
          <p:cNvPr id="17413" name="Arrow 2"/>
          <p:cNvSpPr/>
          <p:nvPr/>
        </p:nvSpPr>
        <p:spPr>
          <a:xfrm>
            <a:off x="4050791" y="1673352"/>
            <a:ext cx="164592" cy="219456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Step 3"/>
          <p:cNvSpPr/>
          <p:nvPr/>
        </p:nvSpPr>
        <p:spPr>
          <a:xfrm>
            <a:off x="4224528" y="1325880"/>
            <a:ext cx="1700784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3. Assessor Session (criteria loaded)</a:t>
            </a:r>
          </a:p>
        </p:txBody>
      </p:sp>
      <p:sp>
        <p:nvSpPr>
          <p:cNvPr id="17415" name="Arrow 3"/>
          <p:cNvSpPr/>
          <p:nvPr/>
        </p:nvSpPr>
        <p:spPr>
          <a:xfrm>
            <a:off x="5934456" y="1673352"/>
            <a:ext cx="164592" cy="219456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Step 4"/>
          <p:cNvSpPr/>
          <p:nvPr/>
        </p:nvSpPr>
        <p:spPr>
          <a:xfrm>
            <a:off x="6108192" y="1325880"/>
            <a:ext cx="1700784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4. Rubric Scoring + Evidence</a:t>
            </a:r>
          </a:p>
        </p:txBody>
      </p:sp>
      <p:sp>
        <p:nvSpPr>
          <p:cNvPr id="17417" name="Arrow 4"/>
          <p:cNvSpPr/>
          <p:nvPr/>
        </p:nvSpPr>
        <p:spPr>
          <a:xfrm>
            <a:off x="7818119" y="1673352"/>
            <a:ext cx="164592" cy="219456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Step 5"/>
          <p:cNvSpPr/>
          <p:nvPr/>
        </p:nvSpPr>
        <p:spPr>
          <a:xfrm>
            <a:off x="7991856" y="1325880"/>
            <a:ext cx="1700784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5. Competency Profile &amp; Recommendation</a:t>
            </a:r>
          </a:p>
        </p:txBody>
      </p:sp>
      <p:sp>
        <p:nvSpPr>
          <p:cNvPr id="17419" name="Arrow 5"/>
          <p:cNvSpPr/>
          <p:nvPr/>
        </p:nvSpPr>
        <p:spPr>
          <a:xfrm>
            <a:off x="9701784" y="1673352"/>
            <a:ext cx="164592" cy="219456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Step 6"/>
          <p:cNvSpPr/>
          <p:nvPr/>
        </p:nvSpPr>
        <p:spPr>
          <a:xfrm>
            <a:off x="9875520" y="1325880"/>
            <a:ext cx="1700784" cy="9144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6. Assessor Sign‑off</a:t>
            </a:r>
          </a:p>
        </p:txBody>
      </p:sp>
      <p:sp>
        <p:nvSpPr>
          <p:cNvPr id="17421" name="Tech Card"/>
          <p:cNvSpPr/>
          <p:nvPr/>
        </p:nvSpPr>
        <p:spPr>
          <a:xfrm>
            <a:off x="457200" y="2468880"/>
            <a:ext cx="5577840" cy="370332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640080" y="2578608"/>
            <a:ext cx="5212080" cy="36576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Technologies Used</a:t>
            </a:r>
          </a:p>
        </p:txBody>
      </p:sp>
      <p:sp>
        <p:nvSpPr>
          <p:cNvPr id="17423" name="Tech Text"/>
          <p:cNvSpPr txBox="1"/>
          <p:nvPr/>
        </p:nvSpPr>
        <p:spPr>
          <a:xfrm>
            <a:off x="594360" y="3063240"/>
            <a:ext cx="5303520" cy="3108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Frontend: </a:t>
            </a:r>
            <a:r>
              <a:rPr sz="1500" b="0">
                <a:solidFill>
                  <a:srgbClr val="222222"/>
                </a:solidFill>
                <a:latin typeface="Arial"/>
              </a:rPr>
              <a:t>React 19, TypeScript, Vite, Tailwind CSS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Backend: </a:t>
            </a:r>
            <a:r>
              <a:rPr sz="1500" b="0">
                <a:solidFill>
                  <a:srgbClr val="222222"/>
                </a:solidFill>
                <a:latin typeface="Arial"/>
              </a:rPr>
              <a:t>Python, Flask REST APIs, JWT + bcrypt auth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Database: </a:t>
            </a:r>
            <a:r>
              <a:rPr sz="1500" b="0">
                <a:solidFill>
                  <a:srgbClr val="222222"/>
                </a:solidFill>
                <a:latin typeface="Arial"/>
              </a:rPr>
              <a:t>SQLite via SQLAlchemy (PostgreSQL-ready)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AI / NLP: </a:t>
            </a:r>
            <a:r>
              <a:rPr sz="1500" b="0">
                <a:solidFill>
                  <a:srgbClr val="222222"/>
                </a:solidFill>
                <a:latin typeface="Arial"/>
              </a:rPr>
              <a:t>scikit-learn TF-IDF + n-gram semantic matching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Offline / PWA: </a:t>
            </a:r>
            <a:r>
              <a:rPr sz="1500" b="0">
                <a:solidFill>
                  <a:srgbClr val="222222"/>
                </a:solidFill>
                <a:latin typeface="Arial"/>
              </a:rPr>
              <a:t>Service Worker, IndexedDB/local drafts, idempotent sync queue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Testing: </a:t>
            </a:r>
            <a:r>
              <a:rPr sz="1500" b="0">
                <a:solidFill>
                  <a:srgbClr val="222222"/>
                </a:solidFill>
                <a:latin typeface="Arial"/>
              </a:rPr>
              <a:t>pytest (16 tests) + consistency benchmark</a:t>
            </a:r>
          </a:p>
        </p:txBody>
      </p:sp>
      <p:sp>
        <p:nvSpPr>
          <p:cNvPr id="17424" name="Method Card"/>
          <p:cNvSpPr/>
          <p:nvPr/>
        </p:nvSpPr>
        <p:spPr>
          <a:xfrm>
            <a:off x="6217920" y="2468880"/>
            <a:ext cx="5486400" cy="370332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6400800" y="2578608"/>
            <a:ext cx="5120640" cy="36576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Methodology &amp; Prototype</a:t>
            </a:r>
          </a:p>
        </p:txBody>
      </p:sp>
      <p:sp>
        <p:nvSpPr>
          <p:cNvPr id="17426" name="Method Text"/>
          <p:cNvSpPr txBox="1"/>
          <p:nvPr/>
        </p:nvSpPr>
        <p:spPr>
          <a:xfrm>
            <a:off x="6355080" y="3063240"/>
            <a:ext cx="5212080" cy="3108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Hybrid matching: </a:t>
            </a:r>
            <a:r>
              <a:rPr sz="1500" b="0">
                <a:solidFill>
                  <a:srgbClr val="222222"/>
                </a:solidFill>
                <a:latin typeface="Arial"/>
              </a:rPr>
              <a:t>TF-IDF + semantic similarity, confidence HIGH / MEDIUM / LOW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Scoring rules: </a:t>
            </a:r>
            <a:r>
              <a:rPr sz="1500" b="0">
                <a:solidFill>
                  <a:srgbClr val="222222"/>
                </a:solidFill>
                <a:latin typeface="Arial"/>
              </a:rPr>
              <a:t>Exceeds / Competent / Developing / Not Demonstrated; Theory 40%, Practical 60%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Offline flow: </a:t>
            </a:r>
            <a:r>
              <a:rPr sz="1500" b="0">
                <a:solidFill>
                  <a:srgbClr val="222222"/>
                </a:solidFill>
                <a:latin typeface="Arial"/>
              </a:rPr>
              <a:t>capture on device → queue → background sync without duplicates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Working prototype: </a:t>
            </a:r>
            <a:r>
              <a:rPr sz="1500" b="0">
                <a:solidFill>
                  <a:srgbClr val="222222"/>
                </a:solidFill>
                <a:latin typeface="Arial"/>
              </a:rPr>
              <a:t>Full-Stack Developer qualification (NSQF 4.5), 6 NOS modules</a:t>
            </a:r>
          </a:p>
          <a:p>
            <a:pPr marL="182880" indent="-182880" algn="l">
              <a:spcAft>
                <a:spcPts val="7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Roles: </a:t>
            </a:r>
            <a:r>
              <a:rPr sz="1500" b="0">
                <a:solidFill>
                  <a:srgbClr val="222222"/>
                </a:solidFill>
                <a:latin typeface="Arial"/>
              </a:rPr>
              <a:t>Worker, Assessor, Admin with strict data isolation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rIns="18288" rtlCol="0" anchor="ctr"/>
          <a:lstStyle/>
          <a:p>
            <a:pPr algn="ctr"/>
            <a:r>
              <a:rPr lang="en-US" sz="1100" b="1" dirty="0">
                <a:solidFill>
                  <a:srgbClr val="1F3864"/>
                </a:solidFill>
                <a:latin typeface="Arial"/>
              </a:rPr>
              <a:t>Transparent Track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Card 1"/>
          <p:cNvSpPr/>
          <p:nvPr/>
        </p:nvSpPr>
        <p:spPr>
          <a:xfrm>
            <a:off x="457200" y="1371600"/>
            <a:ext cx="3639312" cy="48006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640080" y="1508760"/>
            <a:ext cx="3273552" cy="36576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17412" name="Card 1 Text"/>
          <p:cNvSpPr txBox="1"/>
          <p:nvPr/>
        </p:nvSpPr>
        <p:spPr>
          <a:xfrm>
            <a:off x="594360" y="2057400"/>
            <a:ext cx="3364992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Working prototype already built and tested (16 pytest tests pass)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Low-cost open stack: React, Flask, SQLite → PostgreSQL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Built on official data: 1,912 NQR qualifications, 84 criteria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Runs in any browser; installable PWA, no special hardware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Fits NCVET RPL: assessor remains the decision-maker</a:t>
            </a:r>
          </a:p>
        </p:txBody>
      </p:sp>
      <p:sp>
        <p:nvSpPr>
          <p:cNvPr id="17413" name="Card 2"/>
          <p:cNvSpPr/>
          <p:nvPr/>
        </p:nvSpPr>
        <p:spPr>
          <a:xfrm>
            <a:off x="4279392" y="1371600"/>
            <a:ext cx="3639312" cy="48006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4462272" y="1508760"/>
            <a:ext cx="3273552" cy="365760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Challenges &amp; Risks</a:t>
            </a:r>
          </a:p>
        </p:txBody>
      </p:sp>
      <p:sp>
        <p:nvSpPr>
          <p:cNvPr id="17415" name="Card 2 Text"/>
          <p:cNvSpPr txBox="1"/>
          <p:nvPr/>
        </p:nvSpPr>
        <p:spPr>
          <a:xfrm>
            <a:off x="4416552" y="2057400"/>
            <a:ext cx="3364992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Prototype covers one trade (Full-Stack Developer)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Source documents give no graded rubric or per-criterion marks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Sync conflicts and data loss in poor connectivity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AI mis-match or over-reliance on AI output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Privacy of workers’ personal records</a:t>
            </a:r>
          </a:p>
        </p:txBody>
      </p:sp>
      <p:sp>
        <p:nvSpPr>
          <p:cNvPr id="17416" name="Card 3"/>
          <p:cNvSpPr/>
          <p:nvPr/>
        </p:nvSpPr>
        <p:spPr>
          <a:xfrm>
            <a:off x="8101583" y="1371600"/>
            <a:ext cx="3639312" cy="48006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8284463" y="1508760"/>
            <a:ext cx="3273552" cy="365760"/>
          </a:xfrm>
          <a:prstGeom prst="roundRect">
            <a:avLst>
              <a:gd name="adj" fmla="val 3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Mitigation Strategies</a:t>
            </a:r>
          </a:p>
        </p:txBody>
      </p:sp>
      <p:sp>
        <p:nvSpPr>
          <p:cNvPr id="17418" name="Card 3 Text"/>
          <p:cNvSpPr txBox="1"/>
          <p:nvPr/>
        </p:nvSpPr>
        <p:spPr>
          <a:xfrm>
            <a:off x="8238744" y="2057400"/>
            <a:ext cx="3364992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Reusable import pipeline to onboard more qualifications and trades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Rubric anchors to be validated with assessors / Sector Skill Councils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Idempotent sync queue with local drafts on every change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Confidence tiers, explicit “No Match”, mandatory assessor sign-off</a:t>
            </a:r>
          </a:p>
          <a:p>
            <a:pPr marL="182880" indent="-182880" algn="l">
              <a:spcAft>
                <a:spcPts val="1200"/>
              </a:spcAft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Arial"/>
              </a:rPr>
              <a:t>JWT + bcrypt, role guards, per-worker data isolation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rIns="18288" rtlCol="0" anchor="ctr"/>
          <a:lstStyle/>
          <a:p>
            <a:pPr algn="ctr"/>
            <a:r>
              <a:rPr lang="en-US" sz="1100" b="1" dirty="0">
                <a:solidFill>
                  <a:srgbClr val="1F3864"/>
                </a:solidFill>
                <a:latin typeface="Arial"/>
              </a:rPr>
              <a:t>Transparent Track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Stat 1"/>
          <p:cNvSpPr/>
          <p:nvPr/>
        </p:nvSpPr>
        <p:spPr>
          <a:xfrm>
            <a:off x="457200" y="13258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Stat 1 Value"/>
          <p:cNvSpPr txBox="1"/>
          <p:nvPr/>
        </p:nvSpPr>
        <p:spPr>
          <a:xfrm>
            <a:off x="548640" y="1371600"/>
            <a:ext cx="25146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92%</a:t>
            </a:r>
          </a:p>
        </p:txBody>
      </p:sp>
      <p:sp>
        <p:nvSpPr>
          <p:cNvPr id="17412" name="Stat 1 Label"/>
          <p:cNvSpPr txBox="1"/>
          <p:nvPr/>
        </p:nvSpPr>
        <p:spPr>
          <a:xfrm>
            <a:off x="548640" y="2103120"/>
            <a:ext cx="25146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evaluator variance reduction</a:t>
            </a:r>
          </a:p>
        </p:txBody>
      </p:sp>
      <p:sp>
        <p:nvSpPr>
          <p:cNvPr id="17413" name="Stat 2"/>
          <p:cNvSpPr/>
          <p:nvPr/>
        </p:nvSpPr>
        <p:spPr>
          <a:xfrm>
            <a:off x="3312871" y="13258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Stat 2 Value"/>
          <p:cNvSpPr txBox="1"/>
          <p:nvPr/>
        </p:nvSpPr>
        <p:spPr>
          <a:xfrm>
            <a:off x="3404311" y="1371600"/>
            <a:ext cx="25146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0.947</a:t>
            </a:r>
          </a:p>
        </p:txBody>
      </p:sp>
      <p:sp>
        <p:nvSpPr>
          <p:cNvPr id="17415" name="Stat 2 Label"/>
          <p:cNvSpPr txBox="1"/>
          <p:nvPr/>
        </p:nvSpPr>
        <p:spPr>
          <a:xfrm>
            <a:off x="3404311" y="2103120"/>
            <a:ext cx="25146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inter-assessor ICC vs 0.534 manual</a:t>
            </a:r>
          </a:p>
        </p:txBody>
      </p:sp>
      <p:sp>
        <p:nvSpPr>
          <p:cNvPr id="17416" name="Stat 3"/>
          <p:cNvSpPr/>
          <p:nvPr/>
        </p:nvSpPr>
        <p:spPr>
          <a:xfrm>
            <a:off x="6168542" y="13258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Stat 3 Value"/>
          <p:cNvSpPr txBox="1"/>
          <p:nvPr/>
        </p:nvSpPr>
        <p:spPr>
          <a:xfrm>
            <a:off x="6259982" y="1371600"/>
            <a:ext cx="25146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1,912</a:t>
            </a:r>
          </a:p>
        </p:txBody>
      </p:sp>
      <p:sp>
        <p:nvSpPr>
          <p:cNvPr id="17418" name="Stat 3 Label"/>
          <p:cNvSpPr txBox="1"/>
          <p:nvPr/>
        </p:nvSpPr>
        <p:spPr>
          <a:xfrm>
            <a:off x="6259982" y="2103120"/>
            <a:ext cx="25146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NQR qualifications searchable</a:t>
            </a:r>
          </a:p>
        </p:txBody>
      </p:sp>
      <p:sp>
        <p:nvSpPr>
          <p:cNvPr id="17419" name="Stat 4"/>
          <p:cNvSpPr/>
          <p:nvPr/>
        </p:nvSpPr>
        <p:spPr>
          <a:xfrm>
            <a:off x="9024213" y="13258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Stat 4 Value"/>
          <p:cNvSpPr txBox="1"/>
          <p:nvPr/>
        </p:nvSpPr>
        <p:spPr>
          <a:xfrm>
            <a:off x="9115653" y="1371600"/>
            <a:ext cx="25146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84</a:t>
            </a:r>
          </a:p>
        </p:txBody>
      </p:sp>
      <p:sp>
        <p:nvSpPr>
          <p:cNvPr id="17421" name="Stat 4 Label"/>
          <p:cNvSpPr txBox="1"/>
          <p:nvPr/>
        </p:nvSpPr>
        <p:spPr>
          <a:xfrm>
            <a:off x="9115653" y="2103120"/>
            <a:ext cx="25146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performance criteria scored</a:t>
            </a:r>
          </a:p>
        </p:txBody>
      </p:sp>
      <p:sp>
        <p:nvSpPr>
          <p:cNvPr id="17422" name="Impact Card"/>
          <p:cNvSpPr/>
          <p:nvPr/>
        </p:nvSpPr>
        <p:spPr>
          <a:xfrm>
            <a:off x="457200" y="2926080"/>
            <a:ext cx="5577840" cy="301752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640080" y="3035808"/>
            <a:ext cx="5212080" cy="36576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Impact on Target Audience</a:t>
            </a:r>
          </a:p>
        </p:txBody>
      </p:sp>
      <p:sp>
        <p:nvSpPr>
          <p:cNvPr id="17424" name="Impact Text"/>
          <p:cNvSpPr txBox="1"/>
          <p:nvPr/>
        </p:nvSpPr>
        <p:spPr>
          <a:xfrm>
            <a:off x="594360" y="3520440"/>
            <a:ext cx="5303520" cy="2651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Informal workers: </a:t>
            </a:r>
            <a:r>
              <a:rPr sz="1600" b="0">
                <a:solidFill>
                  <a:srgbClr val="222222"/>
                </a:solidFill>
                <a:latin typeface="Arial"/>
              </a:rPr>
              <a:t>get certified without repeating training or losing workdays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Assessors: </a:t>
            </a:r>
            <a:r>
              <a:rPr sz="1600" b="0">
                <a:solidFill>
                  <a:srgbClr val="222222"/>
                </a:solidFill>
                <a:latin typeface="Arial"/>
              </a:rPr>
              <a:t>consistent rubric and evidence aids, less manual effort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MSDE / NCVET / SSCs: </a:t>
            </a:r>
            <a:r>
              <a:rPr sz="1600" b="0">
                <a:solidFill>
                  <a:srgbClr val="222222"/>
                </a:solidFill>
                <a:latin typeface="Arial"/>
              </a:rPr>
              <a:t>scalable, auditable RPL with reproducible reports</a:t>
            </a:r>
          </a:p>
        </p:txBody>
      </p:sp>
      <p:sp>
        <p:nvSpPr>
          <p:cNvPr id="17425" name="Benefit Card"/>
          <p:cNvSpPr/>
          <p:nvPr/>
        </p:nvSpPr>
        <p:spPr>
          <a:xfrm>
            <a:off x="6217920" y="292608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6400800" y="3035808"/>
            <a:ext cx="5120640" cy="365760"/>
          </a:xfrm>
          <a:prstGeom prst="roundRect">
            <a:avLst>
              <a:gd name="adj" fmla="val 3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id="17427" name="Benefit Text"/>
          <p:cNvSpPr txBox="1"/>
          <p:nvPr/>
        </p:nvSpPr>
        <p:spPr>
          <a:xfrm>
            <a:off x="6355080" y="3520440"/>
            <a:ext cx="5212080" cy="2651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Social: </a:t>
            </a:r>
            <a:r>
              <a:rPr sz="1600" b="0">
                <a:solidFill>
                  <a:srgbClr val="222222"/>
                </a:solidFill>
                <a:latin typeface="Arial"/>
              </a:rPr>
              <a:t>formal recognition and inclusion for rural / semi-urban workers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Economic: </a:t>
            </a:r>
            <a:r>
              <a:rPr sz="1600" b="0">
                <a:solidFill>
                  <a:srgbClr val="222222"/>
                </a:solidFill>
                <a:latin typeface="Arial"/>
              </a:rPr>
              <a:t>better jobs and wages; lower cost and time per assessment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1F3864"/>
                </a:solidFill>
                <a:latin typeface="Arial"/>
              </a:rPr>
              <a:t>Environmental: </a:t>
            </a:r>
            <a:r>
              <a:rPr sz="1600" b="0">
                <a:solidFill>
                  <a:srgbClr val="222222"/>
                </a:solidFill>
                <a:latin typeface="Arial"/>
              </a:rPr>
              <a:t>paperless, digital assessment; fewer travel trips</a:t>
            </a:r>
          </a:p>
        </p:txBody>
      </p:sp>
      <p:sp>
        <p:nvSpPr>
          <p:cNvPr id="17428" name="Source Note"/>
          <p:cNvSpPr txBox="1"/>
          <p:nvPr/>
        </p:nvSpPr>
        <p:spPr>
          <a:xfrm>
            <a:off x="457200" y="6016752"/>
            <a:ext cx="112471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Arial"/>
              </a:rPr>
              <a:t>Consistency figures from our benchmark script: backend/scripts/evaluate_consistency.py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rIns="18288" rtlCol="0" anchor="ctr"/>
          <a:lstStyle/>
          <a:p>
            <a:pPr algn="ctr"/>
            <a:r>
              <a:rPr lang="en-US" sz="1100" b="1" dirty="0">
                <a:solidFill>
                  <a:srgbClr val="1F3864"/>
                </a:solidFill>
                <a:latin typeface="Arial"/>
              </a:rPr>
              <a:t>Transparent Track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Prototype Card"/>
          <p:cNvSpPr/>
          <p:nvPr/>
        </p:nvSpPr>
        <p:spPr>
          <a:xfrm>
            <a:off x="457200" y="1371600"/>
            <a:ext cx="3657600" cy="48006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640080" y="1508760"/>
            <a:ext cx="3291840" cy="36576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Working Prototype</a:t>
            </a:r>
          </a:p>
        </p:txBody>
      </p:sp>
      <p:pic>
        <p:nvPicPr>
          <p:cNvPr id="17412" name="GitHub QR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057400"/>
            <a:ext cx="2468880" cy="2468880"/>
          </a:xfrm>
          <a:prstGeom prst="rect">
            <a:avLst/>
          </a:prstGeom>
        </p:spPr>
      </p:pic>
      <p:sp>
        <p:nvSpPr>
          <p:cNvPr id="17413" name="Repo Text"/>
          <p:cNvSpPr txBox="1"/>
          <p:nvPr/>
        </p:nvSpPr>
        <p:spPr>
          <a:xfrm>
            <a:off x="594360" y="4617720"/>
            <a:ext cx="3383280" cy="1508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F3864"/>
                </a:solidFill>
                <a:latin typeface="Arial"/>
              </a:rPr>
              <a:t>Scan or open the GitHub repository</a:t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0070C0"/>
                </a:solidFill>
                <a:latin typeface="Arial"/>
                <a:hlinkClick r:id="rId5"/>
              </a:rPr>
              <a:t>github.com/aniketwandre05/AI-Assisted-RPL-Assessment-Platform</a:t>
            </a:r>
          </a:p>
        </p:txBody>
      </p:sp>
      <p:sp>
        <p:nvSpPr>
          <p:cNvPr id="17414" name="Refs Card"/>
          <p:cNvSpPr/>
          <p:nvPr/>
        </p:nvSpPr>
        <p:spPr>
          <a:xfrm>
            <a:off x="4297680" y="1371600"/>
            <a:ext cx="7406640" cy="48006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4480560" y="1508760"/>
            <a:ext cx="7040880" cy="36576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Research &amp; References</a:t>
            </a:r>
          </a:p>
        </p:txBody>
      </p:sp>
      <p:sp>
        <p:nvSpPr>
          <p:cNvPr id="17416" name="Refs Text"/>
          <p:cNvSpPr txBox="1"/>
          <p:nvPr/>
        </p:nvSpPr>
        <p:spPr>
          <a:xfrm>
            <a:off x="4434840" y="2057400"/>
            <a:ext cx="7132320" cy="4069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NCVET (ncvet.gov.in): </a:t>
            </a:r>
            <a:r>
              <a:rPr sz="1500" b="0">
                <a:solidFill>
                  <a:srgbClr val="222222"/>
                </a:solidFill>
                <a:latin typeface="Arial"/>
              </a:rPr>
              <a:t>Recognition of Prior Learning (RPL) framework and NSQF levels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National Qualification Register (nqr.gov.in): </a:t>
            </a:r>
            <a:r>
              <a:rPr sz="1500" b="0">
                <a:solidFill>
                  <a:srgbClr val="222222"/>
                </a:solidFill>
                <a:latin typeface="Arial"/>
              </a:rPr>
              <a:t>official register of NSQF-aligned qualifications (Oct 2026 export), source of 1,912 entries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MSME Technology Centre: </a:t>
            </a:r>
            <a:r>
              <a:rPr sz="1500" b="0">
                <a:solidFill>
                  <a:srgbClr val="222222"/>
                </a:solidFill>
                <a:latin typeface="Arial"/>
              </a:rPr>
              <a:t>Full-Stack Developer qualification pack, NQR code QG-4.5-IT-02395-2024-V1-MSME, 6 NOS, 84 criteria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MSDE (msde.gov.in): </a:t>
            </a:r>
            <a:r>
              <a:rPr sz="1500" b="0">
                <a:solidFill>
                  <a:srgbClr val="222222"/>
                </a:solidFill>
                <a:latin typeface="Arial"/>
              </a:rPr>
              <a:t>SIH 2026 problem statement SIH26242 (Smart Education)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Methods: </a:t>
            </a:r>
            <a:r>
              <a:rPr sz="1500" b="0">
                <a:solidFill>
                  <a:srgbClr val="222222"/>
                </a:solidFill>
                <a:latin typeface="Arial"/>
              </a:rPr>
              <a:t>scikit-learn TF-IDF text similarity; Intraclass Correlation (ICC) for inter-rater agreement</a:t>
            </a:r>
          </a:p>
          <a:p>
            <a:pPr marL="182880" indent="-182880" algn="l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3864"/>
                </a:solidFill>
                <a:latin typeface="Arial"/>
              </a:rPr>
              <a:t>Prototype docs: </a:t>
            </a:r>
            <a:r>
              <a:rPr sz="1500" b="0">
                <a:solidFill>
                  <a:srgbClr val="222222"/>
                </a:solidFill>
                <a:latin typeface="Arial"/>
              </a:rPr>
              <a:t>README with requirement checklist, ambiguity flags and test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7499</TotalTime>
  <Words>812</Words>
  <Application>Microsoft Office PowerPoint</Application>
  <PresentationFormat>Widescreen</PresentationFormat>
  <Paragraphs>111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AI-ASSISTED RPL ASSESSMENT TOOL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Aniket Wandre</cp:lastModifiedBy>
  <cp:revision>149</cp:revision>
  <dcterms:created xsi:type="dcterms:W3CDTF">2013-12-12T18:46:50Z</dcterms:created>
  <dcterms:modified xsi:type="dcterms:W3CDTF">2026-10-12T17:07:30Z</dcterms:modified>
  <cp:category/>
</cp:coreProperties>
</file>